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74" r:id="rId9"/>
    <p:sldId id="266" r:id="rId10"/>
    <p:sldId id="267" r:id="rId11"/>
    <p:sldId id="272" r:id="rId12"/>
    <p:sldId id="273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2"/>
  </p:normalViewPr>
  <p:slideViewPr>
    <p:cSldViewPr snapToGrid="0" snapToObjects="1">
      <p:cViewPr varScale="1">
        <p:scale>
          <a:sx n="122" d="100"/>
          <a:sy n="122" d="100"/>
        </p:scale>
        <p:origin x="224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0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200400" cy="32004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73736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SHARK TANK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RAGGuard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FFD1"/>
                </a:solidFill>
                <a:latin typeface="Calibri"/>
              </a:rPr>
              <a:t>Pre-Ingestion Intelligence for RAG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8D0E0"/>
                </a:solidFill>
                <a:latin typeface="Calibri"/>
              </a:rPr>
              <a:t>Filtering the noise — so your AI only learns from the best.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035040"/>
            <a:ext cx="11274552" cy="19050"/>
          </a:xfrm>
          <a:prstGeom prst="rect">
            <a:avLst/>
          </a:prstGeom>
          <a:solidFill>
            <a:srgbClr val="55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44768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556078"/>
                </a:solidFill>
                <a:latin typeface="Calibri"/>
              </a:rPr>
              <a:t>DTSC 5082 Final Project</a:t>
            </a:r>
            <a:r>
              <a:rPr sz="1300" b="0" i="0" dirty="0">
                <a:solidFill>
                  <a:srgbClr val="556078"/>
                </a:solidFill>
                <a:latin typeface="Calibri"/>
              </a:rPr>
              <a:t>|  Team </a:t>
            </a:r>
            <a:r>
              <a:rPr sz="1300" b="0" i="0" dirty="0" err="1">
                <a:solidFill>
                  <a:srgbClr val="556078"/>
                </a:solidFill>
                <a:latin typeface="Calibri"/>
              </a:rPr>
              <a:t>RAGGuard</a:t>
            </a:r>
            <a:r>
              <a:rPr sz="1300" b="0" i="0" dirty="0">
                <a:solidFill>
                  <a:srgbClr val="556078"/>
                </a:solidFill>
                <a:latin typeface="Calibri"/>
              </a:rPr>
              <a:t>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4070"/>
                </a:solidFill>
                <a:latin typeface="Courier New"/>
              </a:rPr>
              <a:t>{ RAG + AI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"Every time an AI gives a wrong answer, we blame the model.
The problem starts much earlier — with the data."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11274552" cy="1905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FFD1"/>
                </a:solidFill>
                <a:latin typeface="Calibri"/>
              </a:rPr>
              <a:t>In RAG systems, even a single irrelevant research paper can introduce hallucinations and misleading outputs.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3291840" cy="1463040"/>
          </a:xfrm>
          <a:prstGeom prst="rect">
            <a:avLst/>
          </a:prstGeom>
          <a:solidFill>
            <a:srgbClr val="1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FF"/>
                </a:solidFill>
                <a:latin typeface="Calibri"/>
              </a:rPr>
              <a:t>1 bad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D0E0"/>
                </a:solidFill>
                <a:latin typeface="Calibri"/>
              </a:rPr>
              <a:t>can corrupt an entire
AI answer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3520440"/>
            <a:ext cx="3291840" cy="1463040"/>
          </a:xfrm>
          <a:prstGeom prst="rect">
            <a:avLst/>
          </a:prstGeom>
          <a:solidFill>
            <a:srgbClr val="1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FF"/>
                </a:solidFill>
                <a:latin typeface="Calibri"/>
              </a:rPr>
              <a:t>0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D0E0"/>
                </a:solidFill>
                <a:latin typeface="Calibri"/>
              </a:rPr>
              <a:t>exist to filter papers
before RAG ingestion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3520440"/>
            <a:ext cx="3291840" cy="1463040"/>
          </a:xfrm>
          <a:prstGeom prst="rect">
            <a:avLst/>
          </a:prstGeom>
          <a:solidFill>
            <a:srgbClr val="1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FF"/>
                </a:solidFill>
                <a:latin typeface="Calibri"/>
              </a:rPr>
              <a:t>$Billions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D0E0"/>
                </a:solidFill>
                <a:latin typeface="Calibri"/>
              </a:rPr>
              <a:t>invested in RAG — on top
of unfiltered noisy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99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C200"/>
                </a:solidFill>
                <a:latin typeface="Calibri"/>
              </a:rPr>
              <a:t>The cure exists. We built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Three critical failures in today's RAG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74552" cy="16002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94360" cy="160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72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Unfiltered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116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RAG systems ingest raw academic data with zero quality gates — irrelevant, outdated papers enter unchecked.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783080"/>
            <a:ext cx="4114800" cy="868680"/>
          </a:xfrm>
          <a:prstGeom prst="rect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81051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FFD1"/>
                </a:solidFill>
                <a:latin typeface="Calibri"/>
              </a:rPr>
              <a:t>~40% of arXiv papers are irrelevant to any given domain 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1274552" cy="16002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594360" cy="160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644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Broken Semantic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033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Naive chunking splits mid-concept, destroying the semantic coherence that embeddings depend 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474720"/>
            <a:ext cx="4114800" cy="868680"/>
          </a:xfrm>
          <a:prstGeom prst="rect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350215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FFD1"/>
                </a:solidFill>
                <a:latin typeface="Calibri"/>
              </a:rPr>
              <a:t>Poor chunking degrades retrieval precision by up to 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1274552" cy="16002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594360" cy="160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560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Hallucination Amplification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3949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Irrelevant chunks force LLMs to fill gaps with fabricated content — confident, wrong answers.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5166360"/>
            <a:ext cx="4114800" cy="868680"/>
          </a:xfrm>
          <a:prstGeom prst="rect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519379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FFD1"/>
                </a:solidFill>
                <a:latin typeface="Calibri"/>
              </a:rPr>
              <a:t>1 bad context chunk = up to 3× more hallucinated sentences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Introducing  RAGGuard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91672" cy="1371600"/>
          </a:xfrm>
          <a:prstGeom prst="rect">
            <a:avLst/>
          </a:prstGeom>
          <a:solidFill>
            <a:srgbClr val="0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" cy="13716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FFFF"/>
                </a:solidFill>
                <a:latin typeface="Calibri"/>
              </a:rPr>
              <a:t>RAGGuard is an AI-powered research assistant that helps AI teams improve RAG system accuracy by filtering and retrieving relevant research papers using classification and semantic 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265176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FF"/>
                </a:solidFill>
                <a:latin typeface="Calibri"/>
              </a:rPr>
              <a:t>🔍 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Classifier removes irrelevant
papers before indexing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3246120"/>
            <a:ext cx="265176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D1"/>
                </a:solidFill>
                <a:latin typeface="Calibri"/>
              </a:rPr>
              <a:t>🎯 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Semantic MMR search finds
contextually relevant papers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504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18504" y="3246120"/>
            <a:ext cx="2651760" cy="50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4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2FFF"/>
                </a:solidFill>
                <a:latin typeface="Calibri"/>
              </a:rPr>
              <a:t>⚡ 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&lt; 5 ms per paper —
production-ready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6296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26296" y="3246120"/>
            <a:ext cx="2651760" cy="508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26296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200"/>
                </a:solidFill>
                <a:latin typeface="Calibri"/>
              </a:rPr>
              <a:t>🔬 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Probability scores +
feature weights visible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Production Architecture — AI Research Paper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7 / 18</a:t>
            </a:r>
          </a:p>
        </p:txBody>
      </p:sp>
      <p:pic>
        <p:nvPicPr>
          <p:cNvPr id="7" name="Picture 6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394" y="1325880"/>
            <a:ext cx="949816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It Works — The Two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Built for every person in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3840480"/>
          </a:xfrm>
          <a:prstGeom prst="rect">
            <a:avLst/>
          </a:prstGeom>
          <a:solidFill>
            <a:srgbClr val="0C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0352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FF"/>
                </a:solidFill>
                <a:latin typeface="Calibri"/>
              </a:rPr>
              <a:t>Layer 1 — Classification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Plain English: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"A smart reviewer reads each paper and decides: is this useful? If not — it never enters the pipeline."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Technical layer: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D1"/>
                </a:solidFill>
                <a:latin typeface="Calibri"/>
              </a:rPr>
              <a:t>Logistic Regression on engineered features: keyword presence, abstract structure, category encoding. Outputs P(relevant) — threshold-filtered before indexing.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03520" cy="3840480"/>
          </a:xfrm>
          <a:prstGeom prst="rect">
            <a:avLst/>
          </a:prstGeom>
          <a:solidFill>
            <a:srgbClr val="0C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30352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D1"/>
                </a:solidFill>
                <a:latin typeface="Calibri"/>
              </a:rPr>
              <a:t>Layer 2 — Semantic Search (MMR)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848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Plain English: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957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"Among approved papers, we find the most relevant ones to your question — and diversify results so you're not reading the same answer 5 times."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Technical layer: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D1"/>
                </a:solidFill>
                <a:latin typeface="Calibri"/>
              </a:rPr>
              <a:t>SentenceTransformer embeddings (all-MiniLM-L6-v2) + Maximal Marginal Relevance (MMR, λ=0.6). Cosine similarity ranking with redundancy penalty — diverse high-relevance chunks.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36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200"/>
                </a:solidFill>
                <a:latin typeface="Calibri"/>
              </a:rPr>
              <a:t>⚡  Each paper processed in &lt; 5 ms  |  Scales to 1M+ papers with vector indexing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The Engine Behind the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1417320"/>
          </a:xfrm>
          <a:prstGeom prst="rect">
            <a:avLst/>
          </a:prstGeom>
          <a:solidFill>
            <a:srgbClr val="08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10360152" cy="381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43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FD1"/>
                </a:solidFill>
                <a:latin typeface="Courier New"/>
              </a:rPr>
              <a:t>P( y = 1 | x )   =   1 / ( 1 + e^−( β₀ + β₁x₁ + β₂x₂ + ⋯ + βₙxₙ ) 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P(y=1|x)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Probability that a paper is relevant — the filter decision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25912" cy="54864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21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x₁ … xₙ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216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Engineered features: keyword density, abstract length, category 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42816"/>
            <a:ext cx="10725912" cy="54864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2885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β₀ … βₙ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885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Learned weights — the model's view of which features matter most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09744"/>
            <a:ext cx="10725912" cy="54864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8554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e^−(…)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8554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Sigmoid function — maps any value to a probability in (0, 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996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C200"/>
                </a:solidFill>
                <a:latin typeface="Calibri"/>
              </a:rPr>
              <a:t>Why this formula?  →  Interpretable weights, fast inference, probabilistic output — ideal for explainable content filtering.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8BA7B-FD24-6D70-5DD2-2F3DD55B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BB1B2B-603F-5DE1-96A1-DA83BB538F9E}"/>
              </a:ext>
            </a:extLst>
          </p:cNvPr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B3A9F5-CEF1-644D-5DF5-954709C4721B}"/>
              </a:ext>
            </a:extLst>
          </p:cNvPr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6CE91-E9F3-9F5D-185F-32915751BE9D}"/>
              </a:ext>
            </a:extLst>
          </p:cNvPr>
          <p:cNvSpPr txBox="1"/>
          <p:nvPr/>
        </p:nvSpPr>
        <p:spPr>
          <a:xfrm>
            <a:off x="502920" y="109728"/>
            <a:ext cx="11183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solidFill>
                  <a:srgbClr val="FFFFFF"/>
                </a:solidFill>
                <a:latin typeface="Calibri"/>
              </a:rPr>
              <a:t>Output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51A48-EBC1-7861-62DE-876453D5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55" y="1308308"/>
            <a:ext cx="9322676" cy="544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Evaluated on arXiv research papers — real data, real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65176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FF"/>
                </a:solidFill>
                <a:latin typeface="Calibri"/>
              </a:rPr>
              <a:t>0.82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Precision@5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82% of retrieved chunks
are relevant to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600200"/>
            <a:ext cx="265176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D1"/>
                </a:solidFill>
                <a:latin typeface="Calibri"/>
              </a:rPr>
              <a:t>0.76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Recall@5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76% of relevant papers
successfully retrieved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18504" y="1600200"/>
            <a:ext cx="2651760" cy="50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B2FFF"/>
                </a:solidFill>
                <a:latin typeface="Calibri"/>
              </a:rPr>
              <a:t>66.7%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Refusal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Correctly declines
out-of-scope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26296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26296" y="1600200"/>
            <a:ext cx="2651760" cy="508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1691640"/>
            <a:ext cx="26517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39D353"/>
                </a:solidFill>
                <a:latin typeface="Calibri"/>
              </a:rPr>
              <a:t>&lt; </a:t>
            </a:r>
            <a:r>
              <a:rPr lang="en-IN" sz="3800" b="1" i="0" dirty="0">
                <a:solidFill>
                  <a:srgbClr val="39D353"/>
                </a:solidFill>
                <a:latin typeface="Calibri"/>
              </a:rPr>
              <a:t>100</a:t>
            </a:r>
            <a:r>
              <a:rPr sz="3800" b="1" i="0" dirty="0">
                <a:solidFill>
                  <a:srgbClr val="39D353"/>
                </a:solidFill>
                <a:latin typeface="Calibri"/>
              </a:rPr>
              <a:t> </a:t>
            </a:r>
            <a:r>
              <a:rPr sz="3800" b="1" i="0" dirty="0" err="1">
                <a:solidFill>
                  <a:srgbClr val="39D353"/>
                </a:solidFill>
                <a:latin typeface="Calibri"/>
              </a:rPr>
              <a:t>ms</a:t>
            </a:r>
            <a:endParaRPr sz="3800" b="1" i="0" dirty="0">
              <a:solidFill>
                <a:srgbClr val="39D353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26296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Inference Speed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Per paper — production
ready latency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40480"/>
            <a:ext cx="11274552" cy="128016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D353"/>
                </a:solidFill>
                <a:latin typeface="Calibri"/>
              </a:rPr>
              <a:t>Business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Reduces irrelevant context chunks entering RAG pipelines by up to 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902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Improves LLM answer precision — measurably fewer hallucinations per 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371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Equivalent to 3–5 hours of manual paper curation saved per research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Known Limitations &amp;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Engineering maturity means finding your own gaps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11274552" cy="502920"/>
          </a:xfrm>
          <a:prstGeom prst="rect">
            <a:avLst/>
          </a:prstGeom>
          <a:solidFill>
            <a:srgbClr val="2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4D4D"/>
                </a:solidFill>
                <a:latin typeface="Calibri"/>
              </a:rPr>
              <a:t>⚠  We found these and we already have a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1508760"/>
          </a:xfrm>
          <a:prstGeom prst="rect">
            <a:avLst/>
          </a:prstGeom>
          <a:solidFill>
            <a:srgbClr val="10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" cy="1508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85832" y="2212848"/>
            <a:ext cx="1737360" cy="292608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85832" y="2212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Feature-Based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  <a:latin typeface="Calibri"/>
              </a:rPr>
              <a:t>Current classifier relies on hand-engineered features. May miss nuanced relevance signals that deep semantics would catch.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992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9D353"/>
                </a:solidFill>
                <a:latin typeface="Calibri"/>
              </a:rPr>
              <a:t>Mitigation: Integrate transformer-based embeddings (BERT/MiniLM) into classification. Scoped for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11274552" cy="1508760"/>
          </a:xfrm>
          <a:prstGeom prst="rect">
            <a:avLst/>
          </a:prstGeom>
          <a:solidFill>
            <a:srgbClr val="10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30752"/>
            <a:ext cx="73152" cy="1508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85832" y="3840480"/>
            <a:ext cx="1737360" cy="292608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85832" y="38404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Addressable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039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Small Evaluation Gold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  <a:latin typeface="Calibri"/>
              </a:rPr>
              <a:t>Evaluation ran on a 3-question template set. Precision/Recall numbers need validation on a larger benchmark.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268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9D353"/>
                </a:solidFill>
                <a:latin typeface="Calibri"/>
              </a:rPr>
              <a:t>Mitigation: Build 100-question gold set from arXiv abstracts across 5 domains. Target: Q2.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078"/>
                </a:solidFill>
                <a:latin typeface="Calibri"/>
              </a:rPr>
              <a:t>Transparency here is not a weakness — it is evidence that this team deploys responsibly.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Every component chosen for a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47472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FF"/>
                </a:solidFill>
                <a:latin typeface="Calibri"/>
              </a:rPr>
              <a:t>SentenceTransformers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Local embedding model — no API dependency, fast accurate semantic encoding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47472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D1"/>
                </a:solidFill>
                <a:latin typeface="Calibri"/>
              </a:rPr>
              <a:t>ChromaDB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38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Vector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671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Persistent local vector DB — stores embedded chunks, cosine similarity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508760"/>
            <a:ext cx="3474720" cy="50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alibri"/>
              </a:rPr>
              <a:t>MMR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38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Retrieval Diversifier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1671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Maximal Marginal Relevance (λ=0.6) — prevents redundant chunk retrieval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3474720" cy="508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200"/>
                </a:solidFill>
                <a:latin typeface="Calibri"/>
              </a:rPr>
              <a:t>Groq LLM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401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llama-3.3-70b-versatile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30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Ultra-low latency LLM — OpenAI-compatible, citation-aware system prompt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97180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7680" y="2971800"/>
            <a:ext cx="3474720" cy="50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  <a:latin typeface="Calibri"/>
              </a:rPr>
              <a:t>Logistic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401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scikit-learn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30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Paper relevance classifier — probability output, sub-5ms inference per paper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97180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2971800"/>
            <a:ext cx="3474720" cy="508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D353"/>
                </a:solidFill>
                <a:latin typeface="Calibri"/>
              </a:rPr>
              <a:t>Streamlit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01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Interactive 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30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Upload PDFs, quick actions, chat Q&amp;A, source citation display panel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RAGGuard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FFD1"/>
                </a:solidFill>
                <a:latin typeface="Calibri"/>
              </a:rPr>
              <a:t>Pre-Ingestion Intelligence for RAG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03320"/>
            <a:ext cx="11274552" cy="1905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1">
                <a:solidFill>
                  <a:srgbClr val="FFC200"/>
                </a:solidFill>
                <a:latin typeface="Calibri"/>
              </a:rPr>
              <a:t>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078"/>
                </a:solidFill>
                <a:latin typeface="Calibri"/>
              </a:rPr>
              <a:t>github.com/sreyeshkonduru/RAG_Paper_Assistant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556078"/>
                </a:solidFill>
              </a:rPr>
              <a:t>DTSC 5082 Final Project </a:t>
            </a:r>
            <a:r>
              <a:rPr sz="1200" b="0" i="0" dirty="0">
                <a:solidFill>
                  <a:srgbClr val="556078"/>
                </a:solidFill>
                <a:latin typeface="Calibri"/>
              </a:rPr>
              <a:t>|  Team </a:t>
            </a:r>
            <a:r>
              <a:rPr sz="1200" b="0" i="0" dirty="0" err="1">
                <a:solidFill>
                  <a:srgbClr val="556078"/>
                </a:solidFill>
                <a:latin typeface="Calibri"/>
              </a:rPr>
              <a:t>RAGGuard</a:t>
            </a:r>
            <a:r>
              <a:rPr sz="1200" b="0" i="0" dirty="0">
                <a:solidFill>
                  <a:srgbClr val="556078"/>
                </a:solidFill>
                <a:latin typeface="Calibri"/>
              </a:rPr>
              <a:t>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962</Words>
  <Application>Microsoft Macintosh PowerPoint</Application>
  <PresentationFormat>Custom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Reddygari Bhupal, Moulya</cp:lastModifiedBy>
  <cp:revision>7</cp:revision>
  <dcterms:created xsi:type="dcterms:W3CDTF">2013-01-27T09:14:16Z</dcterms:created>
  <dcterms:modified xsi:type="dcterms:W3CDTF">2026-04-27T22:02:38Z</dcterms:modified>
  <cp:category/>
</cp:coreProperties>
</file>